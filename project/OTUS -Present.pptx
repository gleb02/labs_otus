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9" r:id="rId16"/>
    <p:sldId id="298" r:id="rId1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Medium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021985-6387-4E4F-BAE5-D4C3DED5A434}">
  <a:tblStyle styleId="{CE021985-6387-4E4F-BAE5-D4C3DED5A4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41303671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413036713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41303671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41303671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41303671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41303671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1303671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41303671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413036713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413036713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41303671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41303671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daa21b3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daa21b3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daa21b3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daa21b3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680489e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680489e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daa21b3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daa21b3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daa21b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8daa21b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daa21b3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daa21b3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daa21b3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8daa21b3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daa21b3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8daa21b3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15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53296" y="1482236"/>
            <a:ext cx="7584300" cy="168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Проектирование и пошаговое развертывание распределенной корпоративной </a:t>
            </a:r>
            <a:r>
              <a:rPr lang="ru-RU" sz="3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сети с </a:t>
            </a:r>
            <a:r>
              <a:rPr lang="ru-RU" sz="36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нуля</a:t>
            </a:r>
            <a:endParaRPr sz="36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85975" y="4127375"/>
            <a:ext cx="29739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Engineer. Basic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744125" y="1415974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Меня хорошо видно</a:t>
            </a:r>
            <a:endParaRPr sz="4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&amp; слышно?</a:t>
            </a:r>
            <a:endParaRPr sz="4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500550" y="313624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Защита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Тема: </a:t>
            </a:r>
            <a:r>
              <a:rPr lang="ru-RU" sz="3000" b="1" dirty="0">
                <a:latin typeface="Roboto"/>
                <a:ea typeface="Roboto"/>
                <a:cs typeface="Roboto"/>
                <a:sym typeface="Roboto"/>
              </a:rPr>
              <a:t>Проектирование и пошаговая конфигурация отказоустойчивой корпоративной сети (HQ и </a:t>
            </a:r>
            <a:r>
              <a:rPr lang="ru-RU" sz="3000" b="1" dirty="0" err="1">
                <a:latin typeface="Roboto"/>
                <a:ea typeface="Roboto"/>
                <a:cs typeface="Roboto"/>
                <a:sym typeface="Roboto"/>
              </a:rPr>
              <a:t>Branch</a:t>
            </a:r>
            <a:r>
              <a:rPr lang="ru-RU" sz="3000" b="1" dirty="0">
                <a:latin typeface="Roboto"/>
                <a:ea typeface="Roboto"/>
                <a:cs typeface="Roboto"/>
                <a:sym typeface="Roboto"/>
              </a:rPr>
              <a:t>) с нуля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832240" y="3581274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Певцов Павел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32239" y="3957174"/>
            <a:ext cx="3294701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Техник, технического отдела Депортамента Специальных Проектов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A8E1E9-030B-4075-8897-60C2B682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50" y="2399219"/>
            <a:ext cx="2491068" cy="2491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sz="3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" name="Google Shape;84;p16"/>
          <p:cNvGraphicFramePr/>
          <p:nvPr>
            <p:extLst>
              <p:ext uri="{D42A27DB-BD31-4B8C-83A1-F6EECF244321}">
                <p14:modId xmlns:p14="http://schemas.microsoft.com/office/powerpoint/2010/main" val="3286232030"/>
              </p:ext>
            </p:extLst>
          </p:nvPr>
        </p:nvGraphicFramePr>
        <p:xfrm>
          <a:off x="114125" y="646500"/>
          <a:ext cx="8291825" cy="4439890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Цель проекта:</a:t>
                      </a:r>
                      <a:r>
                        <a:rPr lang="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/>
                        <a:t>Проектирование и пошаговая конфигурация отказоустойчивой корпоративной сети с нуля.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 проекта: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/>
                        <a:t>Сформировать топологию сети и рассчитать план логической сегментации VLAN.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/>
                        <a:t>Настроить быструю L2-коммутацию, защиту от петель (</a:t>
                      </a:r>
                      <a:r>
                        <a:rPr lang="ru-RU" sz="1200" dirty="0" err="1"/>
                        <a:t>Rapid</a:t>
                      </a:r>
                      <a:r>
                        <a:rPr lang="ru-RU" sz="1200" dirty="0"/>
                        <a:t> PVST+) и безопасные Edge-порты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межузловую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маршрутизацию по схеме 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Router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-a-Stick.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Автоматизировать выдачу адресов с помощью сервисов DHCPv4, 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Stateful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DHCPv6 и SLAAC.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Запустить отказоустойчивую динамическую маршрутизацию OSPFv2 и OSPFv3 внутри корпоративного периметра (Area 0).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и применить расширенные списки контроля доступа (</a:t>
                      </a:r>
                      <a:r>
                        <a:rPr lang="ru-RU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Extended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ACL) для защиты внутренних зон.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/>
                        <a:t>Настроить трансляцию сетевых адресов (NAT </a:t>
                      </a:r>
                      <a:r>
                        <a:rPr lang="ru-RU" sz="1200" dirty="0" err="1"/>
                        <a:t>Overload</a:t>
                      </a:r>
                      <a:r>
                        <a:rPr lang="ru-RU" sz="1200" dirty="0"/>
                        <a:t>/PAT) для пользователей и </a:t>
                      </a:r>
                      <a:r>
                        <a:rPr lang="ru-RU" sz="1200" dirty="0" err="1"/>
                        <a:t>Static</a:t>
                      </a:r>
                      <a:r>
                        <a:rPr lang="ru-RU" sz="1200" dirty="0"/>
                        <a:t> NAT для серверов.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ru-RU" sz="1200" dirty="0"/>
                        <a:t>Организовать службу точного времени (NTP) и протоколы мониторинга соседей (CDP/LLDP).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Описание проекта</a:t>
            </a:r>
            <a:endParaRPr sz="3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1" name="Google Shape;91;p17"/>
          <p:cNvGraphicFramePr/>
          <p:nvPr>
            <p:extLst>
              <p:ext uri="{D42A27DB-BD31-4B8C-83A1-F6EECF244321}">
                <p14:modId xmlns:p14="http://schemas.microsoft.com/office/powerpoint/2010/main" val="833632394"/>
              </p:ext>
            </p:extLst>
          </p:nvPr>
        </p:nvGraphicFramePr>
        <p:xfrm>
          <a:off x="114125" y="646500"/>
          <a:ext cx="8291825" cy="4334734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Объект:</a:t>
                      </a:r>
                      <a:r>
                        <a:rPr lang="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Предполагается построение компактной, но отказоустойчивой сетевой архитектуры.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Функциональные зоны: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Филиал</a:t>
                      </a:r>
                      <a:endParaRPr sz="11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Management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10 </a:t>
                      </a: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Administration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20 </a:t>
                      </a: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Users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30 </a:t>
                      </a: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Guest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OSPF_TRANSIT: VLAN50</a:t>
                      </a:r>
                      <a:endParaRPr lang="ru-RU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1270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None/>
                      </a:pPr>
                      <a:r>
                        <a:rPr lang="ru-RU" sz="11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Головной офис</a:t>
                      </a: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Management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110 </a:t>
                      </a: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Administration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120 </a:t>
                      </a:r>
                      <a:endParaRPr lang="en-US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Roboto"/>
                        <a:buChar char="-"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Guest</a:t>
                      </a:r>
                      <a:r>
                        <a:rPr lang="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VLAN 1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</a:t>
                      </a:r>
                      <a:endParaRPr sz="1400" b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Примечание:</a:t>
                      </a:r>
                      <a:endParaRPr sz="1600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Основной фокус работы направлен на обеспечение максимальной отказоустойчивости (High </a:t>
                      </a: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Availability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каналов связи, гибкую сегментацию на уровне L2/L3, сквозное внедрение протоколов IPv4/IPv6, а также реализацию строгих политик безопасности периметра и межведомственного взаимодействия.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Топология сети. Схема</a:t>
            </a:r>
            <a:endParaRPr sz="3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8" name="Google Shape;98;p18"/>
          <p:cNvGraphicFramePr/>
          <p:nvPr>
            <p:extLst>
              <p:ext uri="{D42A27DB-BD31-4B8C-83A1-F6EECF244321}">
                <p14:modId xmlns:p14="http://schemas.microsoft.com/office/powerpoint/2010/main" val="3681921638"/>
              </p:ext>
            </p:extLst>
          </p:nvPr>
        </p:nvGraphicFramePr>
        <p:xfrm>
          <a:off x="114125" y="646500"/>
          <a:ext cx="8291825" cy="871925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Топология по схеме: 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70CEF-0114-4AFF-A79C-A2070F57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642" y="1117483"/>
            <a:ext cx="5506715" cy="3864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9"/>
          <p:cNvGraphicFramePr/>
          <p:nvPr>
            <p:extLst>
              <p:ext uri="{D42A27DB-BD31-4B8C-83A1-F6EECF244321}">
                <p14:modId xmlns:p14="http://schemas.microsoft.com/office/powerpoint/2010/main" val="599462876"/>
              </p:ext>
            </p:extLst>
          </p:nvPr>
        </p:nvGraphicFramePr>
        <p:xfrm>
          <a:off x="221877" y="646500"/>
          <a:ext cx="8291825" cy="3636388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6388">
                <a:tc>
                  <a:txBody>
                    <a:bodyPr/>
                    <a:lstStyle/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Принцип логического разделения: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Изоляция доменов широковещательного шторма для различных типов корпоративного трафика.</a:t>
                      </a: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Шаг 1. Создание VLAN на коммутаторах S1, S2, S3: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Административные сегменты: Management (10/110), Administration (20),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Users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(30/120),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Guest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(40/140).</a:t>
                      </a:r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Инфраструктурный транзит: OSPF_TRANSIT (50).</a:t>
                      </a: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Шаг 2. Защита периметра неиспользуемой емкости (</a:t>
                      </a:r>
                      <a:r>
                        <a:rPr lang="ru-RU" sz="14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Parking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Lot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):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Все порты без активных легитимных подключений принудительно ассоциированы с неактивным VLAN 999 (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ParkingLot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и погашены</a:t>
                      </a:r>
                    </a:p>
                    <a:p>
                      <a:pPr marL="139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Roboto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0109DA-B234-4173-80C4-A2C51F39ACDC}"/>
              </a:ext>
            </a:extLst>
          </p:cNvPr>
          <p:cNvSpPr txBox="1"/>
          <p:nvPr/>
        </p:nvSpPr>
        <p:spPr>
          <a:xfrm>
            <a:off x="221877" y="208429"/>
            <a:ext cx="4738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Часть 1. Сегментация L2 и логика VLAN</a:t>
            </a:r>
          </a:p>
          <a:p>
            <a:endParaRPr lang="ru-RU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14125" y="35773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/>
              <a:t>Часть 2. Безопасность </a:t>
            </a:r>
            <a:r>
              <a:rPr lang="ru-RU" sz="2400" dirty="0" err="1"/>
              <a:t>Trunk</a:t>
            </a:r>
            <a:r>
              <a:rPr lang="ru-RU" sz="2400" dirty="0"/>
              <a:t>-магистралей и STP</a:t>
            </a:r>
            <a:endParaRPr sz="24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4" name="Google Shape;114;p20"/>
          <p:cNvGraphicFramePr/>
          <p:nvPr>
            <p:extLst>
              <p:ext uri="{D42A27DB-BD31-4B8C-83A1-F6EECF244321}">
                <p14:modId xmlns:p14="http://schemas.microsoft.com/office/powerpoint/2010/main" val="3964588971"/>
              </p:ext>
            </p:extLst>
          </p:nvPr>
        </p:nvGraphicFramePr>
        <p:xfrm>
          <a:off x="114125" y="646500"/>
          <a:ext cx="8716675" cy="8658950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7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9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Настройка </a:t>
                      </a:r>
                      <a:r>
                        <a:rPr lang="ru-RU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Trunk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-каналов:	</a:t>
                      </a:r>
                      <a:endParaRPr lang="en-US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r>
                        <a:rPr lang="ru-RU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Смена стандартного </a:t>
                      </a:r>
                      <a:r>
                        <a:rPr lang="ru-RU" b="0" i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Native</a:t>
                      </a:r>
                      <a:r>
                        <a:rPr lang="ru-RU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VLAN на выделенный безопасный </a:t>
                      </a:r>
                      <a:r>
                        <a:rPr lang="ru-RU" b="0" i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Native</a:t>
                      </a:r>
                      <a:r>
                        <a:rPr lang="ru-RU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VLAN 1000 для блокировки атак класса VLAN </a:t>
                      </a:r>
                      <a:r>
                        <a:rPr lang="ru-RU" b="0" i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Hopping</a:t>
                      </a:r>
                      <a:r>
                        <a:rPr lang="ru-RU" b="0" i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endParaRPr lang="en-US" b="0" i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Шаг 2. Развертывание </a:t>
                      </a:r>
                      <a:r>
                        <a:rPr lang="ru-RU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Spanning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ru-RU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Rapid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PVST+):	</a:t>
                      </a:r>
                      <a:endParaRPr lang="en-US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Перевод коммутационной фабрики на быстрый стандарт сходимости графа: </a:t>
                      </a:r>
                      <a:r>
                        <a:rPr lang="ru-RU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spanning-tree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rapid-pvst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Назначение </a:t>
                      </a:r>
                      <a:r>
                        <a:rPr lang="ru-RU" b="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Bridge.• </a:t>
                      </a:r>
                      <a:endParaRPr lang="en-US" b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Шаги </a:t>
                      </a:r>
                      <a:r>
                        <a:rPr lang="en-US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-5. Тюнинг абонентского периметра (Edge </a:t>
                      </a:r>
                      <a:r>
                        <a:rPr lang="ru-RU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Ports</a:t>
                      </a:r>
                      <a:r>
                        <a:rPr lang="ru-RU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):	</a:t>
                      </a:r>
                      <a:endParaRPr lang="en-US"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r>
                        <a:rPr lang="ru-RU" b="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интерфейсах конечных ПК включены опции мгновенного перевода порта в режим пересылки и защита от несанкционированных коммутаторов:</a:t>
                      </a:r>
                      <a:endParaRPr b="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234093"/>
                  </a:ext>
                </a:extLst>
              </a:tr>
            </a:tbl>
          </a:graphicData>
        </a:graphic>
      </p:graphicFrame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60512" y="0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Часть 3. Меж-VLAN маршрутизация и SVI управления</a:t>
            </a:r>
            <a:endParaRPr sz="24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1" name="Google Shape;121;p21"/>
          <p:cNvGraphicFramePr/>
          <p:nvPr>
            <p:extLst>
              <p:ext uri="{D42A27DB-BD31-4B8C-83A1-F6EECF244321}">
                <p14:modId xmlns:p14="http://schemas.microsoft.com/office/powerpoint/2010/main" val="2473857991"/>
              </p:ext>
            </p:extLst>
          </p:nvPr>
        </p:nvGraphicFramePr>
        <p:xfrm>
          <a:off x="114125" y="646500"/>
          <a:ext cx="8291825" cy="3300212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021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Конфигурация </a:t>
                      </a:r>
                      <a:r>
                        <a:rPr lang="ru-RU" b="1" dirty="0" err="1"/>
                        <a:t>сабинтерфейсов</a:t>
                      </a:r>
                      <a:r>
                        <a:rPr lang="ru-RU" b="1" dirty="0"/>
                        <a:t> на R1 и R2:</a:t>
                      </a:r>
                      <a:endParaRPr lang="en-US" b="1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Физический линк G0/0/1 разделен на логические </a:t>
                      </a:r>
                      <a:r>
                        <a:rPr lang="ru-RU" dirty="0" err="1"/>
                        <a:t>sub-interfaces</a:t>
                      </a:r>
                      <a:r>
                        <a:rPr lang="ru-RU" dirty="0"/>
                        <a:t> с привязкой </a:t>
                      </a:r>
                      <a:r>
                        <a:rPr lang="ru-RU" dirty="0" err="1"/>
                        <a:t>деэнкапсуляции</a:t>
                      </a:r>
                      <a:r>
                        <a:rPr lang="ru-RU" dirty="0"/>
                        <a:t> тегов 802.1Q</a:t>
                      </a:r>
                      <a:endParaRPr lang="en-US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/>
                        <a:t>Настройка </a:t>
                      </a:r>
                      <a:r>
                        <a:rPr lang="en-US" b="1" dirty="0"/>
                        <a:t>Switch Virtual Interface (SVI):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Назначение IP-адресов коммутаторам в VLAN 10/110 для удаленного администрирования (SSH) и указание шлюза последней надежды: </a:t>
                      </a:r>
                      <a:r>
                        <a:rPr lang="ru-RU" dirty="0" err="1"/>
                        <a:t>ip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default-gateway</a:t>
                      </a:r>
                      <a:r>
                        <a:rPr lang="ru-RU" dirty="0"/>
                        <a:t>.</a:t>
                      </a:r>
                      <a:endParaRPr b="1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Маршрутизация </a:t>
            </a:r>
            <a:r>
              <a:rPr lang="en-US" sz="3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OSPFv2 </a:t>
            </a:r>
            <a:r>
              <a:rPr lang="ru-RU" sz="3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3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OSPFv3</a:t>
            </a:r>
            <a:r>
              <a:rPr lang="ru" sz="3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8" name="Google Shape;128;p22"/>
          <p:cNvGraphicFramePr/>
          <p:nvPr>
            <p:extLst>
              <p:ext uri="{D42A27DB-BD31-4B8C-83A1-F6EECF244321}">
                <p14:modId xmlns:p14="http://schemas.microsoft.com/office/powerpoint/2010/main" val="424146261"/>
              </p:ext>
            </p:extLst>
          </p:nvPr>
        </p:nvGraphicFramePr>
        <p:xfrm>
          <a:off x="114125" y="646500"/>
          <a:ext cx="8291825" cy="3169890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Магистральный обмен трафиком:</a:t>
                      </a:r>
                      <a:endParaRPr lang="ru-RU" sz="18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Протоколы OSPFv2 (IPv4) и OSPFv3 (IPv6) запущены в единой опорной зоне </a:t>
                      </a:r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Area 0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для связи между HQ, </a:t>
                      </a:r>
                      <a:r>
                        <a:rPr lang="ru-RU" sz="18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Branch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пограничным R3.</a:t>
                      </a:r>
                    </a:p>
                    <a:p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Шаг 3. Инфраструктурная безопасность OSPF (</a:t>
                      </a:r>
                      <a:r>
                        <a:rPr lang="ru-RU" sz="18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Passive</a:t>
                      </a:r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8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Interfaces</a:t>
                      </a:r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):</a:t>
                      </a:r>
                      <a:endParaRPr lang="ru-RU" sz="18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 всех пользовательских </a:t>
                      </a:r>
                      <a:r>
                        <a:rPr lang="ru-RU" sz="18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сабинтерфейсах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активирована директива </a:t>
                      </a:r>
                      <a:r>
                        <a:rPr lang="ru-RU" sz="18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passive-interface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  <a:p>
                      <a:pPr lvl="1"/>
                      <a:r>
                        <a:rPr lang="ru-RU" sz="18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Результат: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Запрет отправки </a:t>
                      </a:r>
                      <a:r>
                        <a:rPr lang="ru-RU" sz="18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Hello</a:t>
                      </a:r>
                      <a:r>
                        <a:rPr lang="ru-RU" sz="18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-пакетов в сторону клиентских ПК. Маршрутизатор строит соседство только через транзитный VLAN 50, полностью исключая перехват таблиц маршрутизации из пользовательских сегментов.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0" y="0"/>
            <a:ext cx="914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Разграничение доступа (Списки </a:t>
            </a:r>
            <a:r>
              <a:rPr lang="ru-RU" sz="2800" dirty="0" err="1"/>
              <a:t>Extended</a:t>
            </a:r>
            <a:r>
              <a:rPr lang="ru-RU" sz="2800" dirty="0"/>
              <a:t> ACL)</a:t>
            </a:r>
            <a:endParaRPr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5" name="Google Shape;135;p23"/>
          <p:cNvGraphicFramePr/>
          <p:nvPr>
            <p:extLst>
              <p:ext uri="{D42A27DB-BD31-4B8C-83A1-F6EECF244321}">
                <p14:modId xmlns:p14="http://schemas.microsoft.com/office/powerpoint/2010/main" val="2426303409"/>
              </p:ext>
            </p:extLst>
          </p:nvPr>
        </p:nvGraphicFramePr>
        <p:xfrm>
          <a:off x="114125" y="646500"/>
          <a:ext cx="8291825" cy="2621250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29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endParaRPr lang="en-US" sz="1600" b="1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6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Шаг 1. Политика информационной безопасности:</a:t>
                      </a:r>
                      <a:endParaRPr lang="ru-RU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6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Extended</a:t>
                      </a:r>
                      <a:r>
                        <a:rPr lang="ru-RU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ACL развернуты на интерфейсах шлюзов для жесткой фильтрации межведомственного трафика.</a:t>
                      </a:r>
                      <a:endParaRPr lang="en-US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en-US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ru-RU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6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Изоляция гостевых зон:</a:t>
                      </a:r>
                      <a:endParaRPr lang="ru-RU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Подсетям VLAN 40 (HQ </a:t>
                      </a:r>
                      <a:r>
                        <a:rPr lang="ru-RU" sz="16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Guest</a:t>
                      </a:r>
                      <a:r>
                        <a:rPr lang="ru-RU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и VLAN 140 (</a:t>
                      </a:r>
                      <a:r>
                        <a:rPr lang="ru-RU" sz="16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Branch</a:t>
                      </a:r>
                      <a:r>
                        <a:rPr lang="ru-RU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6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Guest</a:t>
                      </a:r>
                      <a:r>
                        <a:rPr lang="ru-RU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полностью заблокирован доступ к корпоративным ресурсам управления и пользователям. Разрешен только HTTP/HTTPS транзит наружу: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4"/>
          <p:cNvGraphicFramePr/>
          <p:nvPr>
            <p:extLst>
              <p:ext uri="{D42A27DB-BD31-4B8C-83A1-F6EECF244321}">
                <p14:modId xmlns:p14="http://schemas.microsoft.com/office/powerpoint/2010/main" val="4144887485"/>
              </p:ext>
            </p:extLst>
          </p:nvPr>
        </p:nvGraphicFramePr>
        <p:xfrm>
          <a:off x="114125" y="646500"/>
          <a:ext cx="8789200" cy="5361275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7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Определение границ трансляции:</a:t>
                      </a:r>
                      <a:endParaRPr lang="ru-RU" dirty="0"/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Маркировка внешнего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аплинка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как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nat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outside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а внутренних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сабинтерфейсов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локальной сети — как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nat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inside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Address Translation</a:t>
                      </a:r>
                      <a:r>
                        <a:rPr lang="ru-RU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 технология, которая позволяет менять IP‑адреса в заголовках пакетов при прохождении через маршрутизатор. Чаще всего её используют, чтобы множество устройств с приватными IP‑адресами могли выходить в интернет через один публичный IP.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b="1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PAT (Port Address Translation)</a:t>
                      </a:r>
                      <a:r>
                        <a:rPr lang="ru-RU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 Один публичный IP используется для множества внутренних устройств за счёт разных портов. </a:t>
                      </a:r>
                    </a:p>
                    <a:p>
                      <a:pPr lvl="1"/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Настройка PAT (NAT </a:t>
                      </a:r>
                      <a:r>
                        <a:rPr lang="ru-RU" sz="14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Overload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):</a:t>
                      </a:r>
                      <a:endParaRPr lang="ru-RU" dirty="0"/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Маскирование внутренних подсетей компании для одновременного безопасного выхода в Интернет через единый публичный IP-адрес интерфейса G0/0/0 маршрутизатора R1.</a:t>
                      </a:r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Статический NAT (</a:t>
                      </a:r>
                      <a:r>
                        <a:rPr lang="ru-RU" sz="1400" b="1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Static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NAT 1-to-1):</a:t>
                      </a:r>
                      <a:endParaRPr lang="ru-RU" dirty="0"/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Постоянная привязка адреса сервера PC-A (192.168.20.10) к публичному IP 209.165.200.229 для публикации ресурса во внешнем мире.</a:t>
                      </a:r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9302EE-C91E-479D-8E5E-937B1D2038C8}"/>
              </a:ext>
            </a:extLst>
          </p:cNvPr>
          <p:cNvSpPr txBox="1"/>
          <p:nvPr/>
        </p:nvSpPr>
        <p:spPr>
          <a:xfrm>
            <a:off x="0" y="73959"/>
            <a:ext cx="761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Трансляция сетевых адресов (NAT / PAT)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0" y="0"/>
            <a:ext cx="914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Мониторинг (CDP/LLDP) и Синхронизация (NTP)</a:t>
            </a:r>
            <a:endParaRPr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0" name="Google Shape;150;p25"/>
          <p:cNvGraphicFramePr/>
          <p:nvPr>
            <p:extLst>
              <p:ext uri="{D42A27DB-BD31-4B8C-83A1-F6EECF244321}">
                <p14:modId xmlns:p14="http://schemas.microsoft.com/office/powerpoint/2010/main" val="415068152"/>
              </p:ext>
            </p:extLst>
          </p:nvPr>
        </p:nvGraphicFramePr>
        <p:xfrm>
          <a:off x="114125" y="646500"/>
          <a:ext cx="8789200" cy="3675731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7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Протоколы обнаружения соседей: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Проприетарный протокол 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CDP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оставлен в работе только на внутренних линках между устройствами Cisco. На стыках с внешними сетями включен открытый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мультивендорный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стандарт </a:t>
                      </a:r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LLDP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. На абонентских портах ПК оба протокола отключены.</a:t>
                      </a:r>
                    </a:p>
                    <a:p>
                      <a:endParaRPr lang="en-US" sz="1400" b="1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Инфраструктура единого времени (NTP):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Маршрутизатор R1 назначен центральным сервером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ntp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master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4. Коммутаторы и удаленный шлюз R2 синхронизируют внутренние часы по сети (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ntp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server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).</a:t>
                      </a:r>
                    </a:p>
                    <a:p>
                      <a:pPr lvl="1"/>
                      <a:endParaRPr lang="en-US" sz="1400" b="1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endParaRPr lang="en-US" sz="1400" b="1" i="0" u="none" strike="noStrike" cap="none" spc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lvl="1"/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 Совпадение временных меток во всех системных логах (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syslog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) со стопроцентной точностью, что критически важно для корректного анализа инцидентов ИБ.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0" y="0"/>
            <a:ext cx="914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Заключение и статус проекта</a:t>
            </a:r>
            <a:endParaRPr sz="2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8" name="Google Shape;158;p26"/>
          <p:cNvGraphicFramePr/>
          <p:nvPr>
            <p:extLst>
              <p:ext uri="{D42A27DB-BD31-4B8C-83A1-F6EECF244321}">
                <p14:modId xmlns:p14="http://schemas.microsoft.com/office/powerpoint/2010/main" val="444316997"/>
              </p:ext>
            </p:extLst>
          </p:nvPr>
        </p:nvGraphicFramePr>
        <p:xfrm>
          <a:off x="114125" y="646500"/>
          <a:ext cx="8789200" cy="2608931"/>
        </p:xfrm>
        <a:graphic>
          <a:graphicData uri="http://schemas.openxmlformats.org/drawingml/2006/table">
            <a:tbl>
              <a:tblPr>
                <a:noFill/>
                <a:tableStyleId>{CE021985-6387-4E4F-BAE5-D4C3DED5A434}</a:tableStyleId>
              </a:tblPr>
              <a:tblGrid>
                <a:gridCol w="87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925">
                <a:tc>
                  <a:txBody>
                    <a:bodyPr/>
                    <a:lstStyle/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 проекта: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 нуля построена полностью работоспособная, масштабируемая и безопасная распределенная корпоративная сеть.</a:t>
                      </a:r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Отказоустойчивость: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Подтверждена автоматическая и быстрая сходимость таблиц маршрутизации OSPFv2/OSPFv3 при аварийном отключении транзитных каналов.</a:t>
                      </a:r>
                      <a:endParaRPr lang="en-US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1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Безопасность периметра: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Списки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Extended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ACL успешно блокируют несанкционированный трафик, а механизмы PAT маскируют внутреннюю структуру сети от внешнего сканирования.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125" y="4702025"/>
            <a:ext cx="295101" cy="3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981</Words>
  <Application>Microsoft Office PowerPoint</Application>
  <PresentationFormat>Экран (16:9)</PresentationFormat>
  <Paragraphs>114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Roboto</vt:lpstr>
      <vt:lpstr>Arial</vt:lpstr>
      <vt:lpstr>Roboto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5</cp:revision>
  <dcterms:modified xsi:type="dcterms:W3CDTF">2026-10-14T08:15:30Z</dcterms:modified>
</cp:coreProperties>
</file>